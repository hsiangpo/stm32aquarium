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8BDF8"/>
                </a:solidFill>
                <a:latin typeface="Microsoft YaHei"/>
              </a:defRPr>
            </a:pPr>
            <a:r>
              <a:t>智能水族箱监测与控制系统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  <a:latin typeface="Microsoft YaHei"/>
              </a:defRPr>
            </a:pPr>
            <a:r>
              <a:t>基于 STM32 与华为云 IoT 的端到端闭环项目</a:t>
            </a:r>
          </a:p>
          <a:p/>
          <a:p>
            <a:r>
              <a:t>学生：XXX | 指导老师：XXX | 日期：2026年1月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457200" cy="5943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1. 项目背景与建设目标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2. 系统总体架构与闭环流程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3. 设备端硬件与固件实现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4. 云端 IoTDA 配置与数据模型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5. HarmonyOS 应用设计与功能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6. 测试验收、指标与风险控制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7. 总结与后续展望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  <a:latin typeface="Microsoft YaHei"/>
              </a:defRPr>
            </a:pPr>
            <a:r>
              <a:t>项目背景与痛点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行业背景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家庭观赏鱼缸普及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维护依赖经验与人工巡检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传统设备缺乏联网能力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用户需求：可视化、自动化、远程化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0"/>
            <a:ext cx="4114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核心痛点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数据采集不连续，异常滞后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告警方式单一，缺乏分级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缺少云端历史记录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投喂与换水依赖人工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建设目标与关键指标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功能目标：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多传感器实时监测 (温度/pH/TDS/浊度/水位)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执行器控制 (加热/泵/投饵)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OLED 本地显示 + 蜂鸣器告警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IoTDA 云端协同 + HarmonyOS App 控制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非功能指标：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稳定性：连续运行 12h 无异常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可靠性：传感器容错与安全值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易用性：AP 配网 ≤ 5分钟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实时性：影子刷新 &lt; 1s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设备端 (感知/执行)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STM32: 传感器采集 &amp; 控制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ESP32: Wi-Fi &amp; MQTT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OLED: 状态显示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云端 (IoTDA)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设备接入与鉴权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设备影子同步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命令路由与转发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0"/>
            <a:ext cx="4114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应用端 (HarmonyOS)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可视化仪表盘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远程命令下发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阈值配置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设计理念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三层架构解耦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端云协同闭环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端到端闭环流程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1. 采集：设备 30s 周期采集 (温度/pH/TDS/浊度/水位)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2. 上报：MQTT 推送至 IoTDA，更新设备影子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3. 展示：App 拉取/订阅最新状态，刷新仪表盘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4. 决策：用户/自动逻辑下发控制命令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5. 执行：设备响应命令，执行动作并反馈状态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核心价值：实时上报 + 远程控制 + 状态反馈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  <a:latin typeface="Microsoft YaHei"/>
              </a:defRPr>
            </a:pPr>
            <a:r>
              <a:t>硬件选型与系统组成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核心控制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STM32 NUCLEO-F103RB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ESP32-WROOM (AT固件)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0.96" I2C OLED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DC-DC 降压模块 (12V-&gt;5V)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0"/>
            <a:ext cx="4114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感知与执行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DS18B20 (防水温度)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模拟传感器 (pH/TDS/浊度/水位)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继电器组 (泵/加热棒)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SG90 舵机 (投饵)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蜂鸣器/LED (告警)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接口映射 (Pin 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传感器 (ADC/OneWire):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温度: PA8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pH: PA0 (A0) | TDS: PA1 (A1)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浊度: PA4 (A2) | 水位: PB0 (A3)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执行器 (GPIO/PWM):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进水泵: PB5 | 排水泵: PB4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加热棒: PB10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投饵舵机: PC7 (PWM)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ESP32 TX/RX: PA2/PA3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设备端软件架构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感知层：ADC 滤波、非阻塞读取、异常值过滤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控制层：自动阈值逻辑、分级告警、状态机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通信层：ESP32 AT 指令封装、MQTT 协议栈、断线重连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系统层：Flash 配置持久化、Task 调度、OLED 刷新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  <a:latin typeface="Microsoft YaHei"/>
              </a:defRPr>
            </a:pPr>
            <a:r>
              <a:t>控制逻辑与告警策略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自动控制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温度区间控制 (加热/停止)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水位异常保护 (停泵)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定时/单次投喂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自动/手动模式切换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0"/>
            <a:ext cx="4114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分级告警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提示 (Info)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警告 (Warn)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严重 (Critical)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动作:</a:t>
            </a:r>
            <a:r>
              <a:rPr>
                <a:solidFill>
                  <a:srgbClr val="34D399"/>
                </a:solidFill>
              </a:rPr>
              <a:t>蜂鸣器频率变化 + 推送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保护:</a:t>
            </a:r>
            <a:r>
              <a:rPr>
                <a:solidFill>
                  <a:srgbClr val="34D399"/>
                </a:solidFill>
              </a:rPr>
              <a:t>严重告警切断相关负载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联网配置与持久化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配网流程 (AP SoftAP):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连接失败 x3 -&gt; 进入 AP 模式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手机连接热点 -&gt; 网页配网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保存 SSID/PWD 到 Flash -&gt; 重启连接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持久化存储: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Magic Header + Version + CRC32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存储内容：Wi-Fi 信息、传感器校准参数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SNTP 同步 UTC 时间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云端 IoTDA 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部署信息：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区域：cn-north-4 (北京四)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接入协议：MQTT (1883/8883)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安全认证：Secret 密钥 / HMAC-SHA256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功能配置：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设备影子 (Device Shadow)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物模型 (Profile) 定义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消息路由规则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物模型设计 (Profile)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属性 (Properties): 13项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Env: temp, ph, tds, turbidity, level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Act: heater, pumps, feeder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Status: mode, alarm_level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命令 (Commands):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control: 开关控制、参数设置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set_thresholds: 阈值上下限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set_config: 系统配置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HarmonyOS 应用设计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架构：ArkTS Stage 模型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核心模块：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仪表盘 (Dashboard): 实时状态可视化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控制台 (Console): 远程开关与模式切换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配置页 (Settings): 阈值与系统参数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趋势图 (Charts): 历史数据折线图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特性：分布式流转、卡片服务、暗黑模式适配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交互与可视化亮点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可视化：关键指标卡片高亮，状态色块区分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交互：命令下发 Loading 反馈，防重复点击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图表：支持缩放查看 24h 历史趋势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通知：告警状态触发系统级通知推送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安全与隐私保护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通信安全：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MQTT Client ID 唯一性校验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HMAC-SHA256 签名鉴权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App 端 SignType=0 避免互踢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数据隐私：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AK/SK 不硬编码，本地加密存储</a:t>
            </a:r>
          </a:p>
          <a:p>
            <a:pPr lvl="1"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敏感配置 (WiFi) 导出自动脱敏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测试与验收结果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✅ 连续运行：12小时无异常复位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✅ 数据上报：IoTDA 影子 13 字段完整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✅ 远程控制：延迟 &lt; 2s，状态同步准确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✅ AP 配网：全流程 &lt; 3分钟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✅ 容错测试：传感器断开输出安全值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  <a:latin typeface="Microsoft YaHei"/>
              </a:defRPr>
            </a:pPr>
            <a:r>
              <a:t>性能关键指标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时延指标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上报周期: 30s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影子刷新: &lt; 1s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命令响应: &lt; 200ms (端侧)</a:t>
            </a:r>
          </a:p>
          <a:p>
            <a:pPr lvl="1">
              <a:spcAft>
                <a:spcPts val="1000"/>
              </a:spcAft>
              <a:defRPr sz="1800">
                <a:solidFill>
                  <a:srgbClr val="F1F5F9"/>
                </a:solidFill>
                <a:latin typeface="Microsoft YaHei"/>
              </a:defRPr>
            </a:pPr>
            <a:r>
              <a:t>  告警通知: &lt; 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0"/>
            <a:ext cx="4114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系统指标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稳定性:</a:t>
            </a:r>
            <a:r>
              <a:rPr>
                <a:solidFill>
                  <a:srgbClr val="34D399"/>
                </a:solidFill>
              </a:rPr>
              <a:t> 99.9% 在线率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Flash 读写:</a:t>
            </a:r>
            <a:r>
              <a:rPr>
                <a:solidFill>
                  <a:srgbClr val="34D399"/>
                </a:solidFill>
              </a:rPr>
              <a:t> 磨损均衡保护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  内存占用:</a:t>
            </a:r>
            <a:r>
              <a:rPr>
                <a:solidFill>
                  <a:srgbClr val="34D399"/>
                </a:solidFill>
              </a:rPr>
              <a:t> &lt; 80% (STM32 Heap)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风险评估与应对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⚠️ 传感器漂移 -&gt; 软件校准 + 均值滤波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⚠️ 网络抖动 -&gt; 指数退避重连 + 本地自动模式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⚠️ 并发冲突 -&gt; 乐观锁/影子版本控制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Microsoft YaHei"/>
              </a:defRPr>
            </a:pPr>
            <a:r>
              <a:t>⚠️ 断电数据丢失 -&gt; Flash 掉电保存关键状态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8BDF8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  <a:latin typeface="Microsoft YaHei"/>
              </a:defRPr>
            </a:pPr>
            <a:r>
              <a:t>感谢聆听</a:t>
            </a:r>
          </a:p>
          <a:p/>
          <a:p>
            <a:r>
              <a:t>后续计划：引入 AI 预测算法与 MQTTS 加密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457200" cy="5943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