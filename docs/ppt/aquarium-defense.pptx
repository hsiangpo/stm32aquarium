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关键响应时延（示例）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响应时延（秒）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影子刷新</c:v>
                  </c:pt>
                  <c:pt idx="1">
                    <c:v>命令回包</c:v>
                  </c:pt>
                  <c:pt idx="2">
                    <c:v>重连恢复</c:v>
                  </c:pt>
                  <c:pt idx="3">
                    <c:v>告警推送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1.2</c:v>
                </c:pt>
                <c:pt idx="2">
                  <c:v>2.5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环节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时间（s）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950268"/>
            <a:ext cx="1117550" cy="76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229618"/>
            <a:ext cx="4579492" cy="1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STM32 与华为云 IoT 的智能水族箱监测与控制系统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01" y="2910780"/>
            <a:ext cx="45794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毕业设计答辩 / IoT 端到端闭环项目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8701" y="3383756"/>
            <a:ext cx="45794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学生：XXX　学号：XXXXXXXX　学院/专业：XXX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58701" y="3653582"/>
            <a:ext cx="45794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指导老师：XXX　日期：2026 年 1 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8701" y="3923407"/>
            <a:ext cx="45794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关键主题：多传感器感知 · 云端协同 · 远程运维 · 自动控制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78500" y="1414611"/>
            <a:ext cx="3206948" cy="2314277"/>
          </a:xfrm>
          <a:prstGeom prst="roundRect">
            <a:avLst>
              <a:gd name="adj" fmla="val 5488"/>
            </a:avLst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00700" y="1611362"/>
            <a:ext cx="28177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系统关键词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00700" y="1960513"/>
            <a:ext cx="2762548" cy="14954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STM32F103RB + ESP32 AT 通信</a:t>
            </a:r>
            <a:endParaRPr lang="en-US" sz="1250" dirty="0"/>
          </a:p>
          <a:p>
            <a:pPr algn="l" marL="101600" indent="-101600">
              <a:lnSpc>
                <a:spcPts val="18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 / pH / TDS / 浊度 / 水位监测</a:t>
            </a:r>
            <a:endParaRPr lang="en-US" sz="1250" dirty="0"/>
          </a:p>
          <a:p>
            <a:pPr algn="l" marL="101600" indent="-101600">
              <a:lnSpc>
                <a:spcPts val="18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IoTDA 设备影子与命令下发</a:t>
            </a:r>
            <a:endParaRPr lang="en-US" sz="1250" dirty="0"/>
          </a:p>
          <a:p>
            <a:pPr algn="l" marL="101600" indent="-101600">
              <a:lnSpc>
                <a:spcPts val="18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HarmonyOS 5.0.5 App 控制与展示</a:t>
            </a:r>
            <a:endParaRPr lang="en-US" sz="1250" dirty="0"/>
          </a:p>
          <a:p>
            <a:pPr algn="l" marL="101600" indent="-101600">
              <a:lnSpc>
                <a:spcPts val="18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自动告警 + 投喂 + 泵控闭环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570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06301" y="1321296"/>
            <a:ext cx="8331398" cy="3284934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559421"/>
            <a:ext cx="7753648" cy="27324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项目背景与建设目标</a:t>
            </a:r>
            <a:endParaRPr lang="en-US" sz="1600" dirty="0"/>
          </a:p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系统总体架构与闭环流程</a:t>
            </a:r>
            <a:endParaRPr lang="en-US" sz="1600" dirty="0"/>
          </a:p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设备端硬件与固件实现</a:t>
            </a:r>
            <a:endParaRPr lang="en-US" sz="1600" dirty="0"/>
          </a:p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 IoTDA 配置与数据模型</a:t>
            </a:r>
            <a:endParaRPr lang="en-US" sz="1600" dirty="0"/>
          </a:p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HarmonyOS 应用设计与功能</a:t>
            </a:r>
            <a:endParaRPr lang="en-US" sz="1600" dirty="0"/>
          </a:p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测试验收、指标与风险控制</a:t>
            </a:r>
            <a:endParaRPr lang="en-US" sz="1600" dirty="0"/>
          </a:p>
          <a:p>
            <a:pPr algn="l" marL="114300" indent="-114300">
              <a:lnSpc>
                <a:spcPts val="256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总结与后续展望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19947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项目背景与痛点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12775"/>
            <a:ext cx="4102150" cy="2631877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200001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52426"/>
            <a:ext cx="3676799" cy="1828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家庭观赏鱼缸普及，但维护依赖经验与人工巡检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温度、pH、TDS 等指标波动会快速破坏生态平衡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传统设备缺乏联网能力，无法形成闭环运维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用户希望“可视化、自动化、远程化”管理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0850" y="1012775"/>
            <a:ext cx="4102150" cy="2631877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200001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52426"/>
            <a:ext cx="3676799" cy="1295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数据采集不连续，异常发现滞后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告警方式单一，缺乏分级与静音控制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缺少统一的数据模型与云端记录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投喂与换水依赖人工，风险高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3797052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需求导向：构建“设备感知 + 云端协同 + 移动端展示”的闭环系统，实现无人值守与主动告警。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建设目标与关键指标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1012775"/>
            <a:ext cx="4102150" cy="3317677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200001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52426"/>
            <a:ext cx="3676799" cy="2514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多传感器实时监测：温度 / pH / TDS / 浊度 / 水位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执行器控制：加热棒、进水泵、排水泵、投饵舵机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本地显示 + 蜂鸣器/LED 分级告警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支持自动/手动模式与阈值配置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IoTDA 云端注册、影子上报、命令下发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HarmonyOS App 可视化仪表盘与远程控制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0850" y="1012775"/>
            <a:ext cx="4102150" cy="3317677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200001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非功能指标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52426"/>
            <a:ext cx="3676799" cy="19812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稳定性：设备连续运行 12 小时无异常复位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可靠性：传感器失效自动容错与安全值输出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易用性：AP 配网 ≤ 5 分钟完成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性能：影子刷新 1 秒内更新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安全性：AK/SK 签名，不硬编码密钥</a:t>
            </a:r>
            <a:endParaRPr lang="en-US" sz="1400" dirty="0"/>
          </a:p>
          <a:p>
            <a:pPr algn="l" marL="101600" indent="-1016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可扩展性：新增传感器仅需扩展物模型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4457402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目标对齐 PRD 与验收标准，确保“设备—云—应用”闭环可演示。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17097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系统总体架构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30101" y="1787426"/>
            <a:ext cx="2370832" cy="177165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1949351"/>
            <a:ext cx="20363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设备端（感知/执行）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7327" y="2273201"/>
            <a:ext cx="1996380" cy="1073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采集 5 类传感器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继电器控制泵/加热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舵机投饵 + 本地告警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状态轮播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23566" y="2487513"/>
            <a:ext cx="44038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6584" y="1787426"/>
            <a:ext cx="2370832" cy="177165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73810" y="1949351"/>
            <a:ext cx="20363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华为云 IoTDA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3810" y="2273201"/>
            <a:ext cx="1996380" cy="1073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设备注册与鉴权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影子/属性存储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命令转发与日志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在线状态管理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80049" y="2501801"/>
            <a:ext cx="4403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3067" y="1787426"/>
            <a:ext cx="2370832" cy="177165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30293" y="1949351"/>
            <a:ext cx="20363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应用端（展示/控制）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30293" y="2273201"/>
            <a:ext cx="1996380" cy="1073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仪表盘/趋势图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阈值与配置下发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告警通知/卡片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分布式同步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0101" y="3711476"/>
            <a:ext cx="86534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三层架构解耦：设备负责实时感知与执行，云端负责转发与可信存储，应用负责可视化与运维决策。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95287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0"/>
            <a:ext cx="19947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端到端闭环流程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596801"/>
            <a:ext cx="8382000" cy="628501"/>
          </a:xfrm>
          <a:prstGeom prst="roundRect">
            <a:avLst>
              <a:gd name="adj" fmla="val 20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7332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6516" y="786557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6176" y="786557"/>
            <a:ext cx="517729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设备端按 30s 周期采集温度/pH/TDS/浊度/水位并进行容错处理。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1352252"/>
            <a:ext cx="8382000" cy="628501"/>
          </a:xfrm>
          <a:prstGeom prst="roundRect">
            <a:avLst>
              <a:gd name="adj" fmla="val 20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8226" y="14887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6516" y="1542008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6176" y="1542008"/>
            <a:ext cx="447884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MQTT 向 IoTDA 上报属性，影子与历史记录更新。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1000" y="2107704"/>
            <a:ext cx="8382000" cy="628501"/>
          </a:xfrm>
          <a:prstGeom prst="roundRect">
            <a:avLst>
              <a:gd name="adj" fmla="val 20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8226" y="224417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6516" y="2297460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6176" y="2297460"/>
            <a:ext cx="457979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通过 REST 或实时订阅拉取最新状态，仪表盘刷新。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000" y="2863155"/>
            <a:ext cx="8382000" cy="628501"/>
          </a:xfrm>
          <a:prstGeom prst="roundRect">
            <a:avLst>
              <a:gd name="adj" fmla="val 20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99963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6516" y="30529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6176" y="3052911"/>
            <a:ext cx="409948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用户下发控制/阈值/配置命令，IoTDA 转发至设备。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1000" y="3618607"/>
            <a:ext cx="8382000" cy="628501"/>
          </a:xfrm>
          <a:prstGeom prst="roundRect">
            <a:avLst>
              <a:gd name="adj" fmla="val 20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8226" y="375508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6516" y="3808363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6176" y="3808363"/>
            <a:ext cx="38072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设备执行并响应结果，状态再次上报完成闭环。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1000" y="4450259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闭环强调“实时上报 + 远程控制 + 状态反馈”，满足答辩演示需求。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硬件选型与系统组成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核心控制与通信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NUCLEO-F103RB：主控与实时控制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ESP32-WROOM (AT)：Wi-Fi + MQTT 连接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0.96" I2C OLED：本地状态轮播显示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降压模块：12V → 5V/3.3V 供电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传感器与执行器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 防水温度探头（PA8）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/ TDS / 浊度 / 水位传感器（ADC）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继电器控制进水泵/排水泵/加热棒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舵机投饵 + 蜂鸣器/LED 告警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174653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硬件清单与接线细节详见 docs/Wiring_Guide.md，已考虑供电安全与接口稳定性。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9287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传感器/执行器接口映射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345382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传感器接口（ADC/单总线）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542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 DS18B20：PA8（单总线，4.7kΩ 上拉）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传感器：PA0（A0）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TDS 传感器：PA1（A1）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浊度传感器：PA4（A2）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水位传感器：PB0（A3，分压后 0–3.3V）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345382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执行器与通信接口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542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进水泵继电器：PB5（D4）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排水泵继电器：PB4（D5，禁用 JTAG）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加热棒继电器：PB10（D6）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舵机投饵：PC7（TIM3_CH2）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AT：PA2/PA3（USART2）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000" y="3459659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关键引脚与供电注意事项已在 docs/TECH.MD 与 Wiring_Guide.md 中详细说明。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19947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设备端软件架构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30101" y="1800374"/>
            <a:ext cx="2726382" cy="1822252"/>
          </a:xfrm>
          <a:prstGeom prst="roundRect">
            <a:avLst>
              <a:gd name="adj" fmla="val 6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1962299"/>
            <a:ext cx="2398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7327" y="2286149"/>
            <a:ext cx="2351931" cy="1111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采样与物理量换算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 非阻塞状态机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传感器校准系数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异常值过滤与容错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8883" y="1800374"/>
            <a:ext cx="2726382" cy="1822252"/>
          </a:xfrm>
          <a:prstGeom prst="roundRect">
            <a:avLst>
              <a:gd name="adj" fmla="val 6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96109" y="1962299"/>
            <a:ext cx="2398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96109" y="2286149"/>
            <a:ext cx="2351931" cy="1111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自动控制策略（阈值）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投喂周期/一次性倒计时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告警等级与静音逻辑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执行器状态回写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87666" y="1800374"/>
            <a:ext cx="2726382" cy="1822252"/>
          </a:xfrm>
          <a:prstGeom prst="roundRect">
            <a:avLst>
              <a:gd name="adj" fmla="val 6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74891" y="1962299"/>
            <a:ext cx="2398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通信与系统层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4891" y="2286149"/>
            <a:ext cx="2351931" cy="111115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AT 指令驱动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连接与重连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配置持久化</a:t>
            </a:r>
            <a:endParaRPr lang="en-US" sz="1250" dirty="0"/>
          </a:p>
          <a:p>
            <a:pPr algn="l" marL="95250" indent="-95250">
              <a:lnSpc>
                <a:spcPts val="1813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状态轮播显示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0101" y="3749576"/>
            <a:ext cx="86534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模块化拆分提升可维护性与复用性，便于后续扩展更多传感器与指令。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控制逻辑与告警策略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317552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自动控制逻辑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5144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温度区间控制：低于下限启动加热，高于上限关闭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水位异常触发进水/排水保护策略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投喂逻辑：周期投喂 + 一次性倒计时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自动/手动模式切换，支持远程指令覆盖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317552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告警与容错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传感器失效超阈值输出安全值并上报告警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告警分级：提示/警告/严重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严重告警时终止换水并进入保护模式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支持远程静音，告警状态同步上云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431828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策略保证“自动优先、安全兜底”，同时满足远程人工干预需求。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2796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联网配置与持久化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联网流程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Wi-Fi 连接失败 3 次进入 AP 配网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SSID：Aquarium_Setup，手机网页配置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支持用户 Wi-Fi / 手机热点切换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指数退避重连，保证网络恢复能力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配置持久化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存储：Magic + Version + CRC32 校验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 Wi-Fi 与校准系数，断电可恢复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配置变更后自动重启并回到联网状态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SNTP 获取 UTC 时间，用于 MQTT 鉴权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174653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持久化与重连策略保证在断电/断网场景下自动恢复工作。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12648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 IoTDA 配置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平台与实例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区域：cn-north-4（华北-北京四）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创建产品与设备，配置设备密钥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MQTT/HTTPS 接入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控制台可查看影子与历史记录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接入端点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MQTT：1883 / 8883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REST：HTTPS 443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签名算法：SDK-HMAC-SHA256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设备在线状态与消息转发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174653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IoTDA 作为消息中枢，保证设备数据安全与多端协同。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2796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物模型与协议设计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592884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Aquarium 属性服务（13 字段）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78980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环境类：temperature / ph / tds / turbidity / water_level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执行器：heater / pump_in / pump_out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运行模式：auto_mode / feeding_in_progress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投喂：feed_countdown（周期或一次性）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告警：alarm_level / alarm_muted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592884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命令与 Topic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78980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control：加热/泵/投喂/静音/目标温度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set_thresholds：温度/pH/TDS/浊度/水位阈值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set_config：Wi-Fi + 校准系数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 Topic：$oc/devices/{id}/sys/properties/report</a:t>
            </a:r>
            <a:endParaRPr lang="en-US" sz="1300" dirty="0"/>
          </a:p>
          <a:p>
            <a:pPr algn="l" marL="101600" indent="-1016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 Topic：$oc/devices/{id}/sys/commands/#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000" y="3707160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字段与接口保持设备端与应用端一致，避免“字段漂移”导致的控制失效。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2796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应用端架构与功能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393752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5906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仪表盘：13 属性、在线状态、告警提示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控制页：加热/泵/投喂/静音/自动模式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阈值配置：温度/pH/TDS/浊度/水位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历史趋势：折线图 + 历史记录导出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桌面卡片与通知中心联动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393752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技术实现要点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5906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ArkTS Stage 模型，适配手机/平板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查询影子 + 命令下发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实时订阅（可选）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自动刷新与本地缓存策略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分布式同步（非敏感参数）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508028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设计兼顾展示与控制，确保答辩演示流程清晰完整。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2796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交互与可视化亮点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30101" y="961876"/>
            <a:ext cx="4133850" cy="1022598"/>
          </a:xfrm>
          <a:prstGeom prst="roundRect">
            <a:avLst>
              <a:gd name="adj" fmla="val 124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026" y="10983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仪表盘卡片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2026" y="1377702"/>
            <a:ext cx="3810000" cy="43219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关键指标卡片化展示</a:t>
            </a:r>
            <a:endParaRPr lang="en-US" sz="1150" dirty="0"/>
          </a:p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在线/告警状态高对比提示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90901" y="961876"/>
            <a:ext cx="4133850" cy="1022598"/>
          </a:xfrm>
          <a:prstGeom prst="roundRect">
            <a:avLst>
              <a:gd name="adj" fmla="val 124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2826" y="10983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趋势图与历史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2826" y="1377702"/>
            <a:ext cx="3810000" cy="43219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折线图展示变化趋势</a:t>
            </a:r>
            <a:endParaRPr lang="en-US" sz="1150" dirty="0"/>
          </a:p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历史记录可导出用于论文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0101" y="2111425"/>
            <a:ext cx="4133850" cy="1022598"/>
          </a:xfrm>
          <a:prstGeom prst="roundRect">
            <a:avLst>
              <a:gd name="adj" fmla="val 124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2026" y="22479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控制与反馈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2026" y="2527250"/>
            <a:ext cx="3810000" cy="43219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命令回包与失败提示</a:t>
            </a:r>
            <a:endParaRPr lang="en-US" sz="1150" dirty="0"/>
          </a:p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自动刷新避免手动操作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0901" y="2111425"/>
            <a:ext cx="4133850" cy="1022598"/>
          </a:xfrm>
          <a:prstGeom prst="roundRect">
            <a:avLst>
              <a:gd name="adj" fmla="val 124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2826" y="22479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卡片与通知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52826" y="2527250"/>
            <a:ext cx="3810000" cy="43219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桌面服务卡片实时快照</a:t>
            </a:r>
            <a:endParaRPr lang="en-US" sz="1150" dirty="0"/>
          </a:p>
          <a:p>
            <a:pPr algn="l" marL="88900" indent="-88900">
              <a:lnSpc>
                <a:spcPts val="1552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告警升级触发系统通知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256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安全设计与数据保护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1984177"/>
          </a:xfrm>
          <a:prstGeom prst="roundRect">
            <a:avLst>
              <a:gd name="adj" fmla="val 64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1811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使用 AK/SK 签名（SDK-HMAC-SHA256）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设备端使用 timestamp 签名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MQTT 采用 sign_type=0 避免互踢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1984177"/>
          </a:xfrm>
          <a:prstGeom prst="roundRect">
            <a:avLst>
              <a:gd name="adj" fmla="val 64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密钥与隐私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9239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AK/SK 默认不落盘，需显式开启保存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Secret 同样默认不落盘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导出实验记录自动脱敏 Wi-Fi 密码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098453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遵循最小暴露原则，确保演示截图与日志不泄露敏感信息。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2944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69131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36922"/>
            <a:ext cx="19947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测试与验收结果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04800" y="845344"/>
            <a:ext cx="8534400" cy="3917156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275" y="956370"/>
            <a:ext cx="2267992" cy="615851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1275" y="1567458"/>
            <a:ext cx="22679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776" y="1159520"/>
            <a:ext cx="210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09267" y="956370"/>
            <a:ext cx="3361134" cy="615851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09267" y="1567458"/>
            <a:ext cx="336113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0768" y="1159520"/>
            <a:ext cx="3221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方法/指标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70402" y="956370"/>
            <a:ext cx="2632323" cy="615851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70402" y="1567458"/>
            <a:ext cx="263232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1902" y="1159520"/>
            <a:ext cx="2477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1275" y="2183309"/>
            <a:ext cx="22679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776" y="1775371"/>
            <a:ext cx="210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连续运行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09267" y="2183309"/>
            <a:ext cx="336113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0768" y="1775371"/>
            <a:ext cx="3221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小时运行无异常复位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70402" y="2183309"/>
            <a:ext cx="263232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1902" y="1775371"/>
            <a:ext cx="2477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1275" y="2799159"/>
            <a:ext cx="22679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776" y="2391221"/>
            <a:ext cx="210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属性上报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09267" y="2799159"/>
            <a:ext cx="336113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0768" y="2391221"/>
            <a:ext cx="3221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IoTDA 影子 13 字段齐全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0402" y="2799159"/>
            <a:ext cx="263232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1902" y="2391221"/>
            <a:ext cx="2477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1275" y="3415010"/>
            <a:ext cx="22679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776" y="3007072"/>
            <a:ext cx="210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命令下发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09267" y="3415010"/>
            <a:ext cx="336113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0768" y="3007072"/>
            <a:ext cx="3221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control/threshold/config 回包成功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70402" y="3415010"/>
            <a:ext cx="263232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1902" y="3007072"/>
            <a:ext cx="2477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1275" y="4030861"/>
            <a:ext cx="22679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776" y="3622923"/>
            <a:ext cx="210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配网流程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09267" y="4030861"/>
            <a:ext cx="336113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0768" y="3622923"/>
            <a:ext cx="3221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配网 ≤ 5 分钟完成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70402" y="4030861"/>
            <a:ext cx="263232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1902" y="3622923"/>
            <a:ext cx="2477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1275" y="4646712"/>
            <a:ext cx="22679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776" y="4238774"/>
            <a:ext cx="210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移动端刷新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09267" y="4646712"/>
            <a:ext cx="336113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10768" y="4238774"/>
            <a:ext cx="3221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影子刷新 1 秒内更新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70402" y="4646712"/>
            <a:ext cx="263232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1902" y="4238774"/>
            <a:ext cx="2477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19947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性能与关键指标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3975348" cy="3953024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6209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系统指标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549997" cy="15906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属性上报周期：30s/次，保持数据连续性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影子刷新延迟：通常 ≤ 1s（网络正常）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命令回包：20s 内返回执行结果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告警触发后通知延迟 ≤ 2s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连续运行 12h 设备稳定无复位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34049" y="987326"/>
            <a:ext cx="4228951" cy="3953024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95974" y="1123801"/>
            <a:ext cx="3983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关键响应时延（s，示例数据）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95974" y="4054078"/>
            <a:ext cx="3983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数据为演示样例，可替换为实测结果。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695974" y="1412677"/>
          <a:ext cx="3905101" cy="2539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417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82463"/>
            <a:ext cx="19947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风险评估与应对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潜在风险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3675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传感器精度偏差，影响控制逻辑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不稳定导致上报中断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设备离线时命令下发失败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多端同时登录导致 MQTT 冲突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850" y="987326"/>
            <a:ext cx="4102150" cy="2060377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95250" dist="26941" dir="27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73526" y="1526977"/>
            <a:ext cx="3676799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引入校准系数与异常值容错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指数退避重连 + AP 配网兜底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同步/异步命令策略并提示结果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实时订阅可选开启，默认 REST 刷新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174653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5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针对可预见风险提前设计恢复策略，保证演示与实际可用性。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60363"/>
            <a:ext cx="91440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5550" y="182463"/>
            <a:ext cx="142483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4102150" cy="1727002"/>
          </a:xfrm>
          <a:prstGeom prst="roundRect">
            <a:avLst>
              <a:gd name="adj" fmla="val 7354"/>
            </a:avLst>
          </a:prstGeom>
          <a:solidFill>
            <a:srgbClr val="111827"/>
          </a:solidFill>
          <a:ln w="9525">
            <a:solidFill>
              <a:srgbClr val="1D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3675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项目总结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3675" y="1526977"/>
            <a:ext cx="3676799" cy="9239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完成设备端、云端、应用端协同闭环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实现多传感器监测 + 自动控制 + 告警策略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提供完整文档与验收流程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0850" y="987326"/>
            <a:ext cx="4102150" cy="1727002"/>
          </a:xfrm>
          <a:prstGeom prst="roundRect">
            <a:avLst>
              <a:gd name="adj" fmla="val 7354"/>
            </a:avLst>
          </a:prstGeom>
          <a:solidFill>
            <a:srgbClr val="111827"/>
          </a:solidFill>
          <a:ln w="9525">
            <a:solidFill>
              <a:srgbClr val="1D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3526" y="1174552"/>
            <a:ext cx="3750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后续展望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73526" y="1526977"/>
            <a:ext cx="3676799" cy="9239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增加更多水质指标与智能算法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 TLS 安全通信（MQTTS 8883）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引入数据预测与智能投喂策略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3360" y="2942927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600"/>
              </a:spcBef>
              <a:spcAft>
                <a:spcPts val="3000"/>
              </a:spcAft>
              <a:buNone/>
            </a:pPr>
            <a:r>
              <a:rPr lang="en-US" sz="3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智能水族箱毕业设计答辩</dc:title>
  <dc:subject>PptxGenJS Presentation</dc:subject>
  <dc:creator>stm32Aquarium</dc:creator>
  <cp:lastModifiedBy>stm32Aquarium</cp:lastModifiedBy>
  <cp:revision>1</cp:revision>
  <dcterms:created xsi:type="dcterms:W3CDTF">2026-01-21T17:17:22Z</dcterms:created>
  <dcterms:modified xsi:type="dcterms:W3CDTF">2026-01-21T17:17:22Z</dcterms:modified>
</cp:coreProperties>
</file>